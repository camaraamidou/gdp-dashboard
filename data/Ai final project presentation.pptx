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81" r:id="rId13"/>
    <p:sldId id="280" r:id="rId14"/>
    <p:sldId id="259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2" d="100"/>
          <a:sy n="82" d="100"/>
        </p:scale>
        <p:origin x="2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30BE6D-BA95-48BC-8D86-E06ABD2BED05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0F280B-C740-48DC-8A69-6934A717A0F3}">
      <dgm:prSet/>
      <dgm:spPr/>
      <dgm:t>
        <a:bodyPr/>
        <a:lstStyle/>
        <a:p>
          <a:pPr rtl="0"/>
          <a:r>
            <a:rPr lang="en-GB" dirty="0" err="1" smtClean="0"/>
            <a:t>Name:Amidou</a:t>
          </a:r>
          <a:r>
            <a:rPr lang="en-GB" dirty="0" smtClean="0"/>
            <a:t> </a:t>
          </a:r>
          <a:r>
            <a:rPr lang="en-GB" dirty="0" err="1" smtClean="0"/>
            <a:t>Camara</a:t>
          </a:r>
          <a:endParaRPr lang="en-GB" dirty="0" smtClean="0"/>
        </a:p>
        <a:p>
          <a:pPr rtl="0"/>
          <a:r>
            <a:rPr lang="en-GB" dirty="0" smtClean="0"/>
            <a:t>Mat#: 22223391</a:t>
          </a:r>
          <a:br>
            <a:rPr lang="en-GB" dirty="0" smtClean="0"/>
          </a:br>
          <a:r>
            <a:rPr lang="en-GB" b="1" dirty="0" smtClean="0"/>
            <a:t>Course: Artificial Intelligence </a:t>
          </a:r>
          <a:r>
            <a:rPr lang="en-GB" dirty="0" smtClean="0"/>
            <a:t/>
          </a:r>
          <a:br>
            <a:rPr lang="en-GB" dirty="0" smtClean="0"/>
          </a:br>
          <a:endParaRPr lang="en-GB" dirty="0"/>
        </a:p>
      </dgm:t>
    </dgm:pt>
    <dgm:pt modelId="{1BDEB788-B5A6-4138-8534-BDB84EEF3772}" type="parTrans" cxnId="{3A0A08A8-BAD7-4F74-B78A-ED18337CDAA0}">
      <dgm:prSet/>
      <dgm:spPr/>
      <dgm:t>
        <a:bodyPr/>
        <a:lstStyle/>
        <a:p>
          <a:endParaRPr lang="en-US"/>
        </a:p>
      </dgm:t>
    </dgm:pt>
    <dgm:pt modelId="{041DC43F-4CF7-4C1C-B803-E57626CA4CDB}" type="sibTrans" cxnId="{3A0A08A8-BAD7-4F74-B78A-ED18337CDAA0}">
      <dgm:prSet/>
      <dgm:spPr/>
      <dgm:t>
        <a:bodyPr/>
        <a:lstStyle/>
        <a:p>
          <a:endParaRPr lang="en-US"/>
        </a:p>
      </dgm:t>
    </dgm:pt>
    <dgm:pt modelId="{7A91481F-2583-4CB2-9D5D-6E3C67DC622A}" type="pres">
      <dgm:prSet presAssocID="{D730BE6D-BA95-48BC-8D86-E06ABD2BED05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8509420-5482-4CFF-BC5D-8049C524A542}" type="pres">
      <dgm:prSet presAssocID="{150F280B-C740-48DC-8A69-6934A717A0F3}" presName="root" presStyleCnt="0"/>
      <dgm:spPr/>
    </dgm:pt>
    <dgm:pt modelId="{5DE9382D-A567-4300-AA40-DB7CBFCDABBA}" type="pres">
      <dgm:prSet presAssocID="{150F280B-C740-48DC-8A69-6934A717A0F3}" presName="rootComposite" presStyleCnt="0"/>
      <dgm:spPr/>
    </dgm:pt>
    <dgm:pt modelId="{6170C5CF-5EBE-4627-992E-550795ED8E2C}" type="pres">
      <dgm:prSet presAssocID="{150F280B-C740-48DC-8A69-6934A717A0F3}" presName="rootText" presStyleLbl="node1" presStyleIdx="0" presStyleCnt="1"/>
      <dgm:spPr/>
    </dgm:pt>
    <dgm:pt modelId="{347E103B-BBB2-4D0F-8396-AC22456B9B15}" type="pres">
      <dgm:prSet presAssocID="{150F280B-C740-48DC-8A69-6934A717A0F3}" presName="rootConnector" presStyleLbl="node1" presStyleIdx="0" presStyleCnt="1"/>
      <dgm:spPr/>
    </dgm:pt>
    <dgm:pt modelId="{839E670E-B4DC-458C-BAC3-413E4C563590}" type="pres">
      <dgm:prSet presAssocID="{150F280B-C740-48DC-8A69-6934A717A0F3}" presName="childShape" presStyleCnt="0"/>
      <dgm:spPr/>
    </dgm:pt>
  </dgm:ptLst>
  <dgm:cxnLst>
    <dgm:cxn modelId="{5F1C065B-DEA4-45A7-96AD-E4526A4E85C8}" type="presOf" srcId="{150F280B-C740-48DC-8A69-6934A717A0F3}" destId="{347E103B-BBB2-4D0F-8396-AC22456B9B15}" srcOrd="1" destOrd="0" presId="urn:microsoft.com/office/officeart/2005/8/layout/hierarchy3"/>
    <dgm:cxn modelId="{A60AC000-EB58-444C-BE00-A2EA0168AB80}" type="presOf" srcId="{150F280B-C740-48DC-8A69-6934A717A0F3}" destId="{6170C5CF-5EBE-4627-992E-550795ED8E2C}" srcOrd="0" destOrd="0" presId="urn:microsoft.com/office/officeart/2005/8/layout/hierarchy3"/>
    <dgm:cxn modelId="{3A0A08A8-BAD7-4F74-B78A-ED18337CDAA0}" srcId="{D730BE6D-BA95-48BC-8D86-E06ABD2BED05}" destId="{150F280B-C740-48DC-8A69-6934A717A0F3}" srcOrd="0" destOrd="0" parTransId="{1BDEB788-B5A6-4138-8534-BDB84EEF3772}" sibTransId="{041DC43F-4CF7-4C1C-B803-E57626CA4CDB}"/>
    <dgm:cxn modelId="{59AD3468-23E7-4A20-A1E7-01C33360B149}" type="presOf" srcId="{D730BE6D-BA95-48BC-8D86-E06ABD2BED05}" destId="{7A91481F-2583-4CB2-9D5D-6E3C67DC622A}" srcOrd="0" destOrd="0" presId="urn:microsoft.com/office/officeart/2005/8/layout/hierarchy3"/>
    <dgm:cxn modelId="{D304D579-41B9-4CAD-9076-3396E29DC7C9}" type="presParOf" srcId="{7A91481F-2583-4CB2-9D5D-6E3C67DC622A}" destId="{88509420-5482-4CFF-BC5D-8049C524A542}" srcOrd="0" destOrd="0" presId="urn:microsoft.com/office/officeart/2005/8/layout/hierarchy3"/>
    <dgm:cxn modelId="{4BF70604-D2C2-4763-926B-3DA41C5CE870}" type="presParOf" srcId="{88509420-5482-4CFF-BC5D-8049C524A542}" destId="{5DE9382D-A567-4300-AA40-DB7CBFCDABBA}" srcOrd="0" destOrd="0" presId="urn:microsoft.com/office/officeart/2005/8/layout/hierarchy3"/>
    <dgm:cxn modelId="{79E6FC6B-BFA6-4020-9534-21E695747DAF}" type="presParOf" srcId="{5DE9382D-A567-4300-AA40-DB7CBFCDABBA}" destId="{6170C5CF-5EBE-4627-992E-550795ED8E2C}" srcOrd="0" destOrd="0" presId="urn:microsoft.com/office/officeart/2005/8/layout/hierarchy3"/>
    <dgm:cxn modelId="{93044E4F-C8F7-4AEE-88D9-3A4DF0E75974}" type="presParOf" srcId="{5DE9382D-A567-4300-AA40-DB7CBFCDABBA}" destId="{347E103B-BBB2-4D0F-8396-AC22456B9B15}" srcOrd="1" destOrd="0" presId="urn:microsoft.com/office/officeart/2005/8/layout/hierarchy3"/>
    <dgm:cxn modelId="{015AE586-D041-4EA6-BF56-55361F5C206F}" type="presParOf" srcId="{88509420-5482-4CFF-BC5D-8049C524A542}" destId="{839E670E-B4DC-458C-BAC3-413E4C563590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22D380-A24B-4834-B668-868C2D5760E0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625D31D-0FAF-4780-BD86-BD17131A348B}">
      <dgm:prSet/>
      <dgm:spPr/>
      <dgm:t>
        <a:bodyPr/>
        <a:lstStyle/>
        <a:p>
          <a:pPr rtl="0"/>
          <a:r>
            <a:rPr lang="en-GB" smtClean="0"/>
            <a:t>TITLE</a:t>
          </a:r>
          <a:endParaRPr lang="en-GB"/>
        </a:p>
      </dgm:t>
    </dgm:pt>
    <dgm:pt modelId="{E777E38F-7677-4F25-BF8C-4C6759BD8A88}" type="parTrans" cxnId="{0099C7B7-6CCD-4B87-BE5F-608DE0F05E7B}">
      <dgm:prSet/>
      <dgm:spPr/>
      <dgm:t>
        <a:bodyPr/>
        <a:lstStyle/>
        <a:p>
          <a:endParaRPr lang="en-US"/>
        </a:p>
      </dgm:t>
    </dgm:pt>
    <dgm:pt modelId="{D3130D5B-94A6-4EC1-8649-5BF81346FF44}" type="sibTrans" cxnId="{0099C7B7-6CCD-4B87-BE5F-608DE0F05E7B}">
      <dgm:prSet/>
      <dgm:spPr/>
      <dgm:t>
        <a:bodyPr/>
        <a:lstStyle/>
        <a:p>
          <a:endParaRPr lang="en-US"/>
        </a:p>
      </dgm:t>
    </dgm:pt>
    <dgm:pt modelId="{8716FF92-F8D1-4F38-A5CA-10D0D5914849}" type="pres">
      <dgm:prSet presAssocID="{AE22D380-A24B-4834-B668-868C2D5760E0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CD00D958-8445-48EB-9B82-6F2277A6A83D}" type="pres">
      <dgm:prSet presAssocID="{2625D31D-0FAF-4780-BD86-BD17131A348B}" presName="circle1" presStyleLbl="node1" presStyleIdx="0" presStyleCnt="1"/>
      <dgm:spPr/>
    </dgm:pt>
    <dgm:pt modelId="{152C06B1-D745-4DD4-B4B9-327480410109}" type="pres">
      <dgm:prSet presAssocID="{2625D31D-0FAF-4780-BD86-BD17131A348B}" presName="space" presStyleCnt="0"/>
      <dgm:spPr/>
    </dgm:pt>
    <dgm:pt modelId="{1E779828-7584-4E9A-B46C-AFF4A1A7146C}" type="pres">
      <dgm:prSet presAssocID="{2625D31D-0FAF-4780-BD86-BD17131A348B}" presName="rect1" presStyleLbl="alignAcc1" presStyleIdx="0" presStyleCnt="1"/>
      <dgm:spPr/>
    </dgm:pt>
    <dgm:pt modelId="{D786E7E0-2229-45B9-8675-A1EC44734612}" type="pres">
      <dgm:prSet presAssocID="{2625D31D-0FAF-4780-BD86-BD17131A348B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DAEB9BB0-04BC-44CA-9E79-E93BF61E4DA8}" type="presOf" srcId="{AE22D380-A24B-4834-B668-868C2D5760E0}" destId="{8716FF92-F8D1-4F38-A5CA-10D0D5914849}" srcOrd="0" destOrd="0" presId="urn:microsoft.com/office/officeart/2005/8/layout/target3"/>
    <dgm:cxn modelId="{31590A5D-22A4-4098-82F9-E5E4F98D930C}" type="presOf" srcId="{2625D31D-0FAF-4780-BD86-BD17131A348B}" destId="{1E779828-7584-4E9A-B46C-AFF4A1A7146C}" srcOrd="0" destOrd="0" presId="urn:microsoft.com/office/officeart/2005/8/layout/target3"/>
    <dgm:cxn modelId="{49B186DF-22DF-446E-8461-FACEBFCBAE7D}" type="presOf" srcId="{2625D31D-0FAF-4780-BD86-BD17131A348B}" destId="{D786E7E0-2229-45B9-8675-A1EC44734612}" srcOrd="1" destOrd="0" presId="urn:microsoft.com/office/officeart/2005/8/layout/target3"/>
    <dgm:cxn modelId="{0099C7B7-6CCD-4B87-BE5F-608DE0F05E7B}" srcId="{AE22D380-A24B-4834-B668-868C2D5760E0}" destId="{2625D31D-0FAF-4780-BD86-BD17131A348B}" srcOrd="0" destOrd="0" parTransId="{E777E38F-7677-4F25-BF8C-4C6759BD8A88}" sibTransId="{D3130D5B-94A6-4EC1-8649-5BF81346FF44}"/>
    <dgm:cxn modelId="{85B70C5E-9C8F-4F1B-9DFD-B64DB1B84C39}" type="presParOf" srcId="{8716FF92-F8D1-4F38-A5CA-10D0D5914849}" destId="{CD00D958-8445-48EB-9B82-6F2277A6A83D}" srcOrd="0" destOrd="0" presId="urn:microsoft.com/office/officeart/2005/8/layout/target3"/>
    <dgm:cxn modelId="{9C5BD5CB-D504-41E6-8CFF-4012EA129748}" type="presParOf" srcId="{8716FF92-F8D1-4F38-A5CA-10D0D5914849}" destId="{152C06B1-D745-4DD4-B4B9-327480410109}" srcOrd="1" destOrd="0" presId="urn:microsoft.com/office/officeart/2005/8/layout/target3"/>
    <dgm:cxn modelId="{0391403B-7F9F-478E-8C24-6DBB5FC0A4D7}" type="presParOf" srcId="{8716FF92-F8D1-4F38-A5CA-10D0D5914849}" destId="{1E779828-7584-4E9A-B46C-AFF4A1A7146C}" srcOrd="2" destOrd="0" presId="urn:microsoft.com/office/officeart/2005/8/layout/target3"/>
    <dgm:cxn modelId="{D6A16212-C1D4-4317-B8EE-A7DFE4664773}" type="presParOf" srcId="{8716FF92-F8D1-4F38-A5CA-10D0D5914849}" destId="{D786E7E0-2229-45B9-8675-A1EC44734612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334614-F0C6-49E4-8B74-4A4480662EF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9031E6E-7460-44DC-9A47-C0228CA40528}">
      <dgm:prSet/>
      <dgm:spPr/>
      <dgm:t>
        <a:bodyPr/>
        <a:lstStyle/>
        <a:p>
          <a:pPr rtl="0"/>
          <a:r>
            <a:rPr lang="en-GB" b="1" smtClean="0"/>
            <a:t>Interactive Cardiovascular Risk Prediction Using Machine Learning</a:t>
          </a:r>
          <a:endParaRPr lang="en-GB"/>
        </a:p>
      </dgm:t>
    </dgm:pt>
    <dgm:pt modelId="{91BB11DE-0B46-4914-86F9-8CB39BC95FF5}" type="parTrans" cxnId="{0A345637-7C86-4877-ACB5-03A8FD2E03A5}">
      <dgm:prSet/>
      <dgm:spPr/>
      <dgm:t>
        <a:bodyPr/>
        <a:lstStyle/>
        <a:p>
          <a:endParaRPr lang="en-US"/>
        </a:p>
      </dgm:t>
    </dgm:pt>
    <dgm:pt modelId="{B23FDB46-FF90-46AF-9240-4F45C38EBB89}" type="sibTrans" cxnId="{0A345637-7C86-4877-ACB5-03A8FD2E03A5}">
      <dgm:prSet/>
      <dgm:spPr/>
      <dgm:t>
        <a:bodyPr/>
        <a:lstStyle/>
        <a:p>
          <a:endParaRPr lang="en-US"/>
        </a:p>
      </dgm:t>
    </dgm:pt>
    <dgm:pt modelId="{E446ACFE-BAE5-4E10-98E1-8555FEC89C4E}" type="pres">
      <dgm:prSet presAssocID="{5C334614-F0C6-49E4-8B74-4A4480662EFD}" presName="linear" presStyleCnt="0">
        <dgm:presLayoutVars>
          <dgm:animLvl val="lvl"/>
          <dgm:resizeHandles val="exact"/>
        </dgm:presLayoutVars>
      </dgm:prSet>
      <dgm:spPr/>
    </dgm:pt>
    <dgm:pt modelId="{03A248C3-FFB6-40CF-97E2-79F5EA975EBA}" type="pres">
      <dgm:prSet presAssocID="{59031E6E-7460-44DC-9A47-C0228CA4052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79D1118-322D-4B5F-BBF3-68BF6627E86D}" type="presOf" srcId="{59031E6E-7460-44DC-9A47-C0228CA40528}" destId="{03A248C3-FFB6-40CF-97E2-79F5EA975EBA}" srcOrd="0" destOrd="0" presId="urn:microsoft.com/office/officeart/2005/8/layout/vList2"/>
    <dgm:cxn modelId="{07B71353-B02F-4180-A6CD-C71F69FB942C}" type="presOf" srcId="{5C334614-F0C6-49E4-8B74-4A4480662EFD}" destId="{E446ACFE-BAE5-4E10-98E1-8555FEC89C4E}" srcOrd="0" destOrd="0" presId="urn:microsoft.com/office/officeart/2005/8/layout/vList2"/>
    <dgm:cxn modelId="{0A345637-7C86-4877-ACB5-03A8FD2E03A5}" srcId="{5C334614-F0C6-49E4-8B74-4A4480662EFD}" destId="{59031E6E-7460-44DC-9A47-C0228CA40528}" srcOrd="0" destOrd="0" parTransId="{91BB11DE-0B46-4914-86F9-8CB39BC95FF5}" sibTransId="{B23FDB46-FF90-46AF-9240-4F45C38EBB89}"/>
    <dgm:cxn modelId="{47D7AC1F-302A-4FA4-802D-66C0C34D70BD}" type="presParOf" srcId="{E446ACFE-BAE5-4E10-98E1-8555FEC89C4E}" destId="{03A248C3-FFB6-40CF-97E2-79F5EA975EB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70C5CF-5EBE-4627-992E-550795ED8E2C}">
      <dsp:nvSpPr>
        <dsp:cNvPr id="0" name=""/>
        <dsp:cNvSpPr/>
      </dsp:nvSpPr>
      <dsp:spPr>
        <a:xfrm>
          <a:off x="0" y="492369"/>
          <a:ext cx="9144000" cy="4572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585" tIns="72390" rIns="108585" bIns="72390" numCol="1" spcCol="1270" anchor="ctr" anchorCtr="0">
          <a:noAutofit/>
        </a:bodyPr>
        <a:lstStyle/>
        <a:p>
          <a:pPr lvl="0" algn="ctr" defTabSz="2533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5700" kern="1200" dirty="0" err="1" smtClean="0"/>
            <a:t>Name:Amidou</a:t>
          </a:r>
          <a:r>
            <a:rPr lang="en-GB" sz="5700" kern="1200" dirty="0" smtClean="0"/>
            <a:t> </a:t>
          </a:r>
          <a:r>
            <a:rPr lang="en-GB" sz="5700" kern="1200" dirty="0" err="1" smtClean="0"/>
            <a:t>Camara</a:t>
          </a:r>
          <a:endParaRPr lang="en-GB" sz="5700" kern="1200" dirty="0" smtClean="0"/>
        </a:p>
        <a:p>
          <a:pPr lvl="0" algn="ctr" defTabSz="2533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5700" kern="1200" dirty="0" smtClean="0"/>
            <a:t>Mat#: 22223391</a:t>
          </a:r>
          <a:br>
            <a:rPr lang="en-GB" sz="5700" kern="1200" dirty="0" smtClean="0"/>
          </a:br>
          <a:r>
            <a:rPr lang="en-GB" sz="5700" b="1" kern="1200" dirty="0" smtClean="0"/>
            <a:t>Course: Artificial Intelligence </a:t>
          </a:r>
          <a:r>
            <a:rPr lang="en-GB" sz="5700" kern="1200" dirty="0" smtClean="0"/>
            <a:t/>
          </a:r>
          <a:br>
            <a:rPr lang="en-GB" sz="5700" kern="1200" dirty="0" smtClean="0"/>
          </a:br>
          <a:endParaRPr lang="en-GB" sz="5700" kern="1200" dirty="0"/>
        </a:p>
      </dsp:txBody>
      <dsp:txXfrm>
        <a:off x="133909" y="626278"/>
        <a:ext cx="8876182" cy="43041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00D958-8445-48EB-9B82-6F2277A6A83D}">
      <dsp:nvSpPr>
        <dsp:cNvPr id="0" name=""/>
        <dsp:cNvSpPr/>
      </dsp:nvSpPr>
      <dsp:spPr>
        <a:xfrm>
          <a:off x="0" y="0"/>
          <a:ext cx="1325563" cy="1325563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779828-7584-4E9A-B46C-AFF4A1A7146C}">
      <dsp:nvSpPr>
        <dsp:cNvPr id="0" name=""/>
        <dsp:cNvSpPr/>
      </dsp:nvSpPr>
      <dsp:spPr>
        <a:xfrm>
          <a:off x="662781" y="0"/>
          <a:ext cx="9852818" cy="132556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2410" tIns="232410" rIns="232410" bIns="232410" numCol="1" spcCol="1270" anchor="ctr" anchorCtr="0">
          <a:noAutofit/>
        </a:bodyPr>
        <a:lstStyle/>
        <a:p>
          <a:pPr lvl="0" algn="ctr" defTabSz="2711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6100" kern="1200" smtClean="0"/>
            <a:t>TITLE</a:t>
          </a:r>
          <a:endParaRPr lang="en-GB" sz="6100" kern="1200"/>
        </a:p>
      </dsp:txBody>
      <dsp:txXfrm>
        <a:off x="662781" y="0"/>
        <a:ext cx="9852818" cy="13255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A248C3-FFB6-40CF-97E2-79F5EA975EBA}">
      <dsp:nvSpPr>
        <dsp:cNvPr id="0" name=""/>
        <dsp:cNvSpPr/>
      </dsp:nvSpPr>
      <dsp:spPr>
        <a:xfrm>
          <a:off x="0" y="388494"/>
          <a:ext cx="10515600" cy="35743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l" defTabSz="2889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6500" b="1" kern="1200" smtClean="0"/>
            <a:t>Interactive Cardiovascular Risk Prediction Using Machine Learning</a:t>
          </a:r>
          <a:endParaRPr lang="en-GB" sz="6500" kern="1200"/>
        </a:p>
      </dsp:txBody>
      <dsp:txXfrm>
        <a:off x="174485" y="562979"/>
        <a:ext cx="10166630" cy="32253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0FE1D-3EA3-4462-BD85-4E13E72A7F54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17158-EEA2-4177-B607-C3FA884621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741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0FE1D-3EA3-4462-BD85-4E13E72A7F54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17158-EEA2-4177-B607-C3FA884621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7649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0FE1D-3EA3-4462-BD85-4E13E72A7F54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17158-EEA2-4177-B607-C3FA884621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1070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0FE1D-3EA3-4462-BD85-4E13E72A7F54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17158-EEA2-4177-B607-C3FA884621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683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0FE1D-3EA3-4462-BD85-4E13E72A7F54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17158-EEA2-4177-B607-C3FA884621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6743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0FE1D-3EA3-4462-BD85-4E13E72A7F54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17158-EEA2-4177-B607-C3FA884621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9815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0FE1D-3EA3-4462-BD85-4E13E72A7F54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17158-EEA2-4177-B607-C3FA884621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730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0FE1D-3EA3-4462-BD85-4E13E72A7F54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17158-EEA2-4177-B607-C3FA884621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4157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0FE1D-3EA3-4462-BD85-4E13E72A7F54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17158-EEA2-4177-B607-C3FA884621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7858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0FE1D-3EA3-4462-BD85-4E13E72A7F54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17158-EEA2-4177-B607-C3FA884621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694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0FE1D-3EA3-4462-BD85-4E13E72A7F54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17158-EEA2-4177-B607-C3FA884621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0076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0FE1D-3EA3-4462-BD85-4E13E72A7F54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617158-EEA2-4177-B607-C3FA884621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6827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streamlit.io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981309436"/>
              </p:ext>
            </p:extLst>
          </p:nvPr>
        </p:nvGraphicFramePr>
        <p:xfrm>
          <a:off x="1524000" y="0"/>
          <a:ext cx="9144000" cy="5556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818184"/>
            <a:ext cx="9144000" cy="1230924"/>
          </a:xfrm>
        </p:spPr>
        <p:txBody>
          <a:bodyPr/>
          <a:lstStyle/>
          <a:p>
            <a:endParaRPr lang="en-GB" dirty="0" smtClean="0"/>
          </a:p>
          <a:p>
            <a:r>
              <a:rPr lang="en-GB" dirty="0" smtClean="0"/>
              <a:t>https://gdp-dashboard-smxdc3122ae.streamlit.app/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6790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/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703260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283895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Abstract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Cardiovascular disease (CVD), including heart attack and stroke, is a leading cause of death globally. </a:t>
            </a:r>
            <a:endParaRPr lang="en-GB" dirty="0" smtClean="0"/>
          </a:p>
          <a:p>
            <a:r>
              <a:rPr lang="en-GB" dirty="0" smtClean="0"/>
              <a:t>Early </a:t>
            </a:r>
            <a:r>
              <a:rPr lang="en-GB" dirty="0"/>
              <a:t>identification of individuals at risk can significantly improve preventive care</a:t>
            </a:r>
            <a:r>
              <a:rPr lang="en-GB" dirty="0" smtClean="0"/>
              <a:t>.</a:t>
            </a:r>
          </a:p>
          <a:p>
            <a:r>
              <a:rPr lang="en-GB" dirty="0" smtClean="0"/>
              <a:t> </a:t>
            </a:r>
            <a:r>
              <a:rPr lang="en-GB" dirty="0"/>
              <a:t>This project develops an </a:t>
            </a:r>
            <a:r>
              <a:rPr lang="en-GB" b="1" dirty="0"/>
              <a:t>interactive AI application</a:t>
            </a:r>
            <a:r>
              <a:rPr lang="en-GB" dirty="0"/>
              <a:t> that predicts the likelihood of heart attack or stroke based on clinical features. </a:t>
            </a:r>
            <a:endParaRPr lang="en-GB" dirty="0" smtClean="0"/>
          </a:p>
          <a:p>
            <a:r>
              <a:rPr lang="en-GB" dirty="0" smtClean="0"/>
              <a:t>Using </a:t>
            </a:r>
            <a:r>
              <a:rPr lang="en-GB" dirty="0"/>
              <a:t>the </a:t>
            </a:r>
            <a:r>
              <a:rPr lang="en-GB" b="1" dirty="0"/>
              <a:t>NIHR ARC Wessex Synthetic Cardiovascular Dataset</a:t>
            </a:r>
            <a:r>
              <a:rPr lang="en-GB" dirty="0"/>
              <a:t>, a Gradient Boosting Classifier was trained and evaluated</a:t>
            </a:r>
          </a:p>
        </p:txBody>
      </p:sp>
    </p:spTree>
    <p:extLst>
      <p:ext uri="{BB962C8B-B14F-4D97-AF65-F5344CB8AC3E}">
        <p14:creationId xmlns:p14="http://schemas.microsoft.com/office/powerpoint/2010/main" val="1146342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Abstract </a:t>
            </a:r>
            <a:r>
              <a:rPr lang="en-GB" dirty="0" err="1" smtClean="0"/>
              <a:t>Cont</a:t>
            </a:r>
            <a:r>
              <a:rPr lang="en-GB" dirty="0" smtClean="0"/>
              <a:t>’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model achieved an accuracy of </a:t>
            </a:r>
            <a:r>
              <a:rPr lang="en-GB" b="1" dirty="0" smtClean="0"/>
              <a:t>99%</a:t>
            </a:r>
            <a:r>
              <a:rPr lang="en-GB" dirty="0" smtClean="0"/>
              <a:t>, </a:t>
            </a:r>
            <a:r>
              <a:rPr lang="en-GB" dirty="0"/>
              <a:t>with high precision and recall</a:t>
            </a:r>
            <a:r>
              <a:rPr lang="en-GB" dirty="0" smtClean="0"/>
              <a:t>.</a:t>
            </a:r>
          </a:p>
          <a:p>
            <a:r>
              <a:rPr lang="en-GB" dirty="0" smtClean="0"/>
              <a:t> </a:t>
            </a:r>
            <a:r>
              <a:rPr lang="en-GB" dirty="0"/>
              <a:t>Predictions are presented in </a:t>
            </a:r>
            <a:r>
              <a:rPr lang="en-GB" b="1" dirty="0"/>
              <a:t>human-readable labels</a:t>
            </a:r>
            <a:r>
              <a:rPr lang="en-GB" dirty="0"/>
              <a:t> (“Has heart attack or stroke” / “No heart attack or stroke”), and visualizations provide insights into feature relationships</a:t>
            </a:r>
            <a:r>
              <a:rPr lang="en-GB" dirty="0" smtClean="0"/>
              <a:t>.</a:t>
            </a:r>
          </a:p>
          <a:p>
            <a:r>
              <a:rPr lang="en-GB" dirty="0" smtClean="0"/>
              <a:t> </a:t>
            </a:r>
            <a:r>
              <a:rPr lang="en-GB" dirty="0"/>
              <a:t>The model and interface are integrated into a </a:t>
            </a:r>
            <a:r>
              <a:rPr lang="en-GB" b="1" dirty="0" err="1"/>
              <a:t>Streamlit</a:t>
            </a:r>
            <a:r>
              <a:rPr lang="en-GB" b="1" dirty="0"/>
              <a:t> web application</a:t>
            </a:r>
            <a:r>
              <a:rPr lang="en-GB" dirty="0"/>
              <a:t>, allowing real-time, interpretable predictions. </a:t>
            </a:r>
            <a:endParaRPr lang="en-GB" dirty="0" smtClean="0"/>
          </a:p>
          <a:p>
            <a:r>
              <a:rPr lang="en-GB" dirty="0" smtClean="0"/>
              <a:t>This </a:t>
            </a:r>
            <a:r>
              <a:rPr lang="en-GB" dirty="0"/>
              <a:t>prototype demonstrates the practical application of AI in healthcare risk prediction.</a:t>
            </a:r>
          </a:p>
        </p:txBody>
      </p:sp>
    </p:spTree>
    <p:extLst>
      <p:ext uri="{BB962C8B-B14F-4D97-AF65-F5344CB8AC3E}">
        <p14:creationId xmlns:p14="http://schemas.microsoft.com/office/powerpoint/2010/main" val="1218199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Introduction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Cardiovascular </a:t>
            </a:r>
            <a:r>
              <a:rPr lang="en-GB" dirty="0"/>
              <a:t>diseases are among the most significant health challenges worldwide, accounting for millions of deaths </a:t>
            </a:r>
            <a:r>
              <a:rPr lang="en-GB" dirty="0" smtClean="0"/>
              <a:t>annually.</a:t>
            </a:r>
          </a:p>
          <a:p>
            <a:r>
              <a:rPr lang="en-GB" dirty="0" smtClean="0"/>
              <a:t>Traditional </a:t>
            </a:r>
            <a:r>
              <a:rPr lang="en-GB" dirty="0"/>
              <a:t>risk assessment methods often rely on static risk scores or require domain expertise, limiting accessibility.</a:t>
            </a:r>
          </a:p>
        </p:txBody>
      </p:sp>
    </p:spTree>
    <p:extLst>
      <p:ext uri="{BB962C8B-B14F-4D97-AF65-F5344CB8AC3E}">
        <p14:creationId xmlns:p14="http://schemas.microsoft.com/office/powerpoint/2010/main" val="279862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Objectives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 smtClean="0"/>
              <a:t>Build </a:t>
            </a:r>
            <a:r>
              <a:rPr lang="en-GB" dirty="0"/>
              <a:t>a </a:t>
            </a:r>
            <a:r>
              <a:rPr lang="en-GB" b="1" dirty="0"/>
              <a:t>machine learning model</a:t>
            </a:r>
            <a:r>
              <a:rPr lang="en-GB" dirty="0"/>
              <a:t> for predicting heart attack or stroke risk.</a:t>
            </a:r>
          </a:p>
          <a:p>
            <a:pPr lvl="0"/>
            <a:r>
              <a:rPr lang="en-GB" dirty="0"/>
              <a:t>Deploy a </a:t>
            </a:r>
            <a:r>
              <a:rPr lang="en-GB" b="1" dirty="0"/>
              <a:t>user-friendly interactive web application</a:t>
            </a:r>
            <a:r>
              <a:rPr lang="en-GB" dirty="0"/>
              <a:t> for real-time predictions.</a:t>
            </a:r>
          </a:p>
          <a:p>
            <a:r>
              <a:rPr lang="en-GB" dirty="0"/>
              <a:t>Provide </a:t>
            </a:r>
            <a:r>
              <a:rPr lang="en-GB" b="1" dirty="0"/>
              <a:t>interpretable and actionable outputs</a:t>
            </a:r>
            <a:r>
              <a:rPr lang="en-GB" dirty="0"/>
              <a:t> to end-users</a:t>
            </a:r>
          </a:p>
        </p:txBody>
      </p:sp>
    </p:spTree>
    <p:extLst>
      <p:ext uri="{BB962C8B-B14F-4D97-AF65-F5344CB8AC3E}">
        <p14:creationId xmlns:p14="http://schemas.microsoft.com/office/powerpoint/2010/main" val="1510579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Related Work / Literature Review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Several </a:t>
            </a:r>
            <a:r>
              <a:rPr lang="en-GB" dirty="0"/>
              <a:t>models exist for cardiovascular risk prediction:</a:t>
            </a:r>
          </a:p>
          <a:p>
            <a:pPr lvl="0"/>
            <a:r>
              <a:rPr lang="en-GB" b="1" dirty="0"/>
              <a:t>Framingham Risk Score</a:t>
            </a:r>
            <a:r>
              <a:rPr lang="en-GB" dirty="0"/>
              <a:t>: Classical model using linear regression and traditional risk factors.</a:t>
            </a:r>
          </a:p>
          <a:p>
            <a:pPr lvl="0"/>
            <a:r>
              <a:rPr lang="en-GB" b="1" dirty="0"/>
              <a:t>QRISK</a:t>
            </a:r>
            <a:r>
              <a:rPr lang="en-GB" dirty="0"/>
              <a:t>: UK-based risk calculator incorporating demographic and clinical data.</a:t>
            </a:r>
          </a:p>
          <a:p>
            <a:r>
              <a:rPr lang="en-GB" b="1" dirty="0"/>
              <a:t>Machine Learning Approaches</a:t>
            </a:r>
            <a:r>
              <a:rPr lang="en-GB" dirty="0"/>
              <a:t>: Recent studies apply Gradient Boosting, Random Forests, and Neural Networks to improve predictive performance</a:t>
            </a:r>
          </a:p>
        </p:txBody>
      </p:sp>
    </p:spTree>
    <p:extLst>
      <p:ext uri="{BB962C8B-B14F-4D97-AF65-F5344CB8AC3E}">
        <p14:creationId xmlns:p14="http://schemas.microsoft.com/office/powerpoint/2010/main" val="675158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Gap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Existing </a:t>
            </a:r>
            <a:r>
              <a:rPr lang="en-GB" dirty="0"/>
              <a:t>models are either </a:t>
            </a:r>
            <a:r>
              <a:rPr lang="en-GB" b="1" dirty="0"/>
              <a:t>non-interactive</a:t>
            </a:r>
            <a:r>
              <a:rPr lang="en-GB" dirty="0"/>
              <a:t> or </a:t>
            </a:r>
            <a:r>
              <a:rPr lang="en-GB" b="1" dirty="0"/>
              <a:t>not user-friendly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dirty="0" smtClean="0"/>
              <a:t>This </a:t>
            </a:r>
            <a:r>
              <a:rPr lang="en-GB" dirty="0"/>
              <a:t>project addresses this by combining ML with an </a:t>
            </a:r>
            <a:r>
              <a:rPr lang="en-GB" b="1" dirty="0"/>
              <a:t>interactive </a:t>
            </a:r>
            <a:r>
              <a:rPr lang="en-GB" b="1" dirty="0" err="1"/>
              <a:t>Streamlit</a:t>
            </a:r>
            <a:r>
              <a:rPr lang="en-GB" b="1" dirty="0"/>
              <a:t> interface</a:t>
            </a:r>
            <a:r>
              <a:rPr lang="en-GB" dirty="0"/>
              <a:t>, enabling users to input their features and receive </a:t>
            </a:r>
            <a:r>
              <a:rPr lang="en-GB" b="1" dirty="0"/>
              <a:t>immediate, interpretable predictions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6417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Methodology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b="1" dirty="0" smtClean="0"/>
              <a:t> Dataset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 smtClean="0"/>
              <a:t>Source</a:t>
            </a:r>
            <a:r>
              <a:rPr lang="en-GB" b="1" dirty="0"/>
              <a:t>:</a:t>
            </a:r>
            <a:r>
              <a:rPr lang="en-GB" dirty="0"/>
              <a:t> NIHR ARC Wessex Synthetic Cardiovascular Dataset (v0.2).</a:t>
            </a:r>
          </a:p>
          <a:p>
            <a:pPr lvl="0"/>
            <a:r>
              <a:rPr lang="en-GB" b="1" dirty="0"/>
              <a:t>Features:</a:t>
            </a:r>
            <a:r>
              <a:rPr lang="en-GB" dirty="0"/>
              <a:t> Demographic, clinical, and lifestyle attributes.</a:t>
            </a:r>
          </a:p>
          <a:p>
            <a:r>
              <a:rPr lang="en-GB" b="1" dirty="0"/>
              <a:t>Target:</a:t>
            </a:r>
            <a:r>
              <a:rPr lang="en-GB" dirty="0"/>
              <a:t> </a:t>
            </a:r>
            <a:r>
              <a:rPr lang="en-GB" dirty="0" err="1"/>
              <a:t>heart_attack_or_stroke_occurred</a:t>
            </a:r>
            <a:r>
              <a:rPr lang="en-GB" dirty="0"/>
              <a:t> (1 = </a:t>
            </a:r>
            <a:r>
              <a:rPr lang="en-GB" dirty="0" smtClean="0"/>
              <a:t>event </a:t>
            </a:r>
            <a:r>
              <a:rPr lang="en-GB" dirty="0"/>
              <a:t>occurred, 0 = no event).</a:t>
            </a:r>
          </a:p>
        </p:txBody>
      </p:sp>
    </p:spTree>
    <p:extLst>
      <p:ext uri="{BB962C8B-B14F-4D97-AF65-F5344CB8AC3E}">
        <p14:creationId xmlns:p14="http://schemas.microsoft.com/office/powerpoint/2010/main" val="3009620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Data </a:t>
            </a:r>
            <a:r>
              <a:rPr lang="en-GB" b="1" dirty="0" err="1" smtClean="0"/>
              <a:t>Preprocessing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 smtClean="0"/>
              <a:t>Removed </a:t>
            </a:r>
            <a:r>
              <a:rPr lang="en-GB" dirty="0"/>
              <a:t>non-numeric columns (</a:t>
            </a:r>
            <a:r>
              <a:rPr lang="en-GB" dirty="0" err="1"/>
              <a:t>patient_id</a:t>
            </a:r>
            <a:r>
              <a:rPr lang="en-GB" dirty="0"/>
              <a:t>).</a:t>
            </a:r>
          </a:p>
          <a:p>
            <a:pPr lvl="0"/>
            <a:r>
              <a:rPr lang="en-GB" dirty="0"/>
              <a:t>Retained numeric features only.</a:t>
            </a:r>
          </a:p>
          <a:p>
            <a:r>
              <a:rPr lang="en-GB" dirty="0"/>
              <a:t>Missing values handled via </a:t>
            </a:r>
            <a:r>
              <a:rPr lang="en-GB" b="1" dirty="0"/>
              <a:t>median imputation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6850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Model Development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Algorithm</a:t>
            </a:r>
            <a:r>
              <a:rPr lang="en-GB" b="1" dirty="0"/>
              <a:t>:</a:t>
            </a:r>
            <a:r>
              <a:rPr lang="en-GB" dirty="0"/>
              <a:t> Gradient Boosting Classifier (</a:t>
            </a:r>
            <a:r>
              <a:rPr lang="en-GB" dirty="0" err="1"/>
              <a:t>scikit</a:t>
            </a:r>
            <a:r>
              <a:rPr lang="en-GB" dirty="0"/>
              <a:t>-learn</a:t>
            </a:r>
            <a:r>
              <a:rPr lang="en-GB" dirty="0" smtClean="0"/>
              <a:t>).</a:t>
            </a:r>
          </a:p>
          <a:p>
            <a:r>
              <a:rPr lang="en-GB" dirty="0" smtClean="0"/>
              <a:t>A </a:t>
            </a:r>
            <a:r>
              <a:rPr lang="en-GB" b="1" dirty="0" smtClean="0"/>
              <a:t>Gradient Boosting Classifier</a:t>
            </a:r>
            <a:r>
              <a:rPr lang="en-GB" dirty="0" smtClean="0"/>
              <a:t> is a </a:t>
            </a:r>
            <a:r>
              <a:rPr lang="en-GB" b="1" dirty="0" smtClean="0"/>
              <a:t>machine learning algorithm</a:t>
            </a:r>
            <a:r>
              <a:rPr lang="en-GB" dirty="0" smtClean="0"/>
              <a:t> used for </a:t>
            </a:r>
            <a:r>
              <a:rPr lang="en-GB" b="1" dirty="0" smtClean="0"/>
              <a:t>classification problems</a:t>
            </a:r>
            <a:r>
              <a:rPr lang="en-GB" dirty="0" smtClean="0"/>
              <a:t> </a:t>
            </a:r>
          </a:p>
          <a:p>
            <a:pPr marL="0" indent="0">
              <a:buNone/>
            </a:pPr>
            <a:r>
              <a:rPr lang="en-GB" dirty="0" smtClean="0"/>
              <a:t>(predicting categories like spam/not spam, disease/healthy).</a:t>
            </a:r>
          </a:p>
        </p:txBody>
      </p:sp>
    </p:spTree>
    <p:extLst>
      <p:ext uri="{BB962C8B-B14F-4D97-AF65-F5344CB8AC3E}">
        <p14:creationId xmlns:p14="http://schemas.microsoft.com/office/powerpoint/2010/main" val="3887472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Model Development </a:t>
            </a:r>
            <a:r>
              <a:rPr lang="en-GB" b="1" dirty="0" err="1" smtClean="0"/>
              <a:t>cont</a:t>
            </a:r>
            <a:r>
              <a:rPr lang="en-GB" b="1" dirty="0" smtClean="0"/>
              <a:t>’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smtClean="0">
                <a:latin typeface="Arial" panose="020B0604020202020204" pitchFamily="34" charset="0"/>
              </a:rPr>
              <a:t>The algorithm uses </a:t>
            </a:r>
            <a:r>
              <a:rPr lang="en-US" altLang="en-US" b="1" dirty="0" smtClean="0">
                <a:latin typeface="Arial" panose="020B0604020202020204" pitchFamily="34" charset="0"/>
              </a:rPr>
              <a:t>gradient descent</a:t>
            </a:r>
            <a:r>
              <a:rPr lang="en-US" altLang="en-US" dirty="0" smtClean="0">
                <a:latin typeface="Arial" panose="020B0604020202020204" pitchFamily="34" charset="0"/>
              </a:rPr>
              <a:t> to minimize a </a:t>
            </a:r>
            <a:r>
              <a:rPr lang="en-US" altLang="en-US" b="1" dirty="0" smtClean="0">
                <a:latin typeface="Arial" panose="020B0604020202020204" pitchFamily="34" charset="0"/>
              </a:rPr>
              <a:t>loss function</a:t>
            </a:r>
            <a:endParaRPr lang="en-US" altLang="en-US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smtClean="0">
                <a:latin typeface="Arial" panose="020B0604020202020204" pitchFamily="34" charset="0"/>
              </a:rPr>
              <a:t>“Gradient” refers to moving in the direction that </a:t>
            </a:r>
            <a:r>
              <a:rPr lang="en-US" altLang="en-US" b="1" dirty="0" smtClean="0">
                <a:latin typeface="Arial" panose="020B0604020202020204" pitchFamily="34" charset="0"/>
              </a:rPr>
              <a:t>reduces error the fastest</a:t>
            </a:r>
            <a:endParaRPr lang="en-US" altLang="en-US" dirty="0" smtClean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smtClean="0">
                <a:latin typeface="Arial" panose="020B0604020202020204" pitchFamily="34" charset="0"/>
              </a:rPr>
              <a:t>“Boosting” refers to </a:t>
            </a:r>
            <a:r>
              <a:rPr lang="en-US" altLang="en-US" b="1" dirty="0" smtClean="0">
                <a:latin typeface="Arial" panose="020B0604020202020204" pitchFamily="34" charset="0"/>
              </a:rPr>
              <a:t>seque</a:t>
            </a:r>
            <a:r>
              <a:rPr lang="en-US" altLang="en-US" dirty="0" smtClean="0">
                <a:latin typeface="Arial" panose="020B0604020202020204" pitchFamily="34" charset="0"/>
              </a:rPr>
              <a:t>n</a:t>
            </a:r>
            <a:r>
              <a:rPr lang="en-US" altLang="en-US" b="1" dirty="0" smtClean="0">
                <a:latin typeface="Arial" panose="020B0604020202020204" pitchFamily="34" charset="0"/>
              </a:rPr>
              <a:t>tially improving</a:t>
            </a:r>
            <a:r>
              <a:rPr lang="en-US" altLang="en-US" dirty="0" smtClean="0">
                <a:latin typeface="Arial" panose="020B0604020202020204" pitchFamily="34" charset="0"/>
              </a:rPr>
              <a:t> weak </a:t>
            </a:r>
            <a:r>
              <a:rPr lang="en-GB" dirty="0" smtClean="0"/>
              <a:t>learners</a:t>
            </a:r>
            <a:endParaRPr lang="en-US" altLang="en-US" dirty="0" smtClean="0">
              <a:latin typeface="Arial" panose="020B0604020202020204" pitchFamily="34" charset="0"/>
            </a:endParaRP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523177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GB" b="1" dirty="0" err="1" smtClean="0"/>
              <a:t>Hyperparameters</a:t>
            </a:r>
            <a:endParaRPr lang="en-GB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 err="1" smtClean="0"/>
              <a:t>n_estimators</a:t>
            </a:r>
            <a:r>
              <a:rPr lang="en-GB" b="1" dirty="0" smtClean="0"/>
              <a:t> = 100</a:t>
            </a:r>
            <a:endParaRPr lang="en-GB" dirty="0" smtClean="0"/>
          </a:p>
          <a:p>
            <a:pPr lvl="0"/>
            <a:r>
              <a:rPr lang="en-GB" b="1" dirty="0" err="1" smtClean="0"/>
              <a:t>learning_rate</a:t>
            </a:r>
            <a:r>
              <a:rPr lang="en-GB" b="1" dirty="0" smtClean="0"/>
              <a:t> = 0.1</a:t>
            </a:r>
            <a:endParaRPr lang="en-GB" dirty="0" smtClean="0"/>
          </a:p>
          <a:p>
            <a:pPr lvl="0"/>
            <a:r>
              <a:rPr lang="en-GB" b="1" dirty="0" err="1" smtClean="0"/>
              <a:t>max_depth</a:t>
            </a:r>
            <a:r>
              <a:rPr lang="en-GB" b="1" dirty="0" smtClean="0"/>
              <a:t> = 3</a:t>
            </a:r>
            <a:endParaRPr lang="en-GB" dirty="0" smtClean="0"/>
          </a:p>
          <a:p>
            <a:pPr lvl="0"/>
            <a:r>
              <a:rPr lang="en-GB" b="1" dirty="0" err="1" smtClean="0"/>
              <a:t>random_state</a:t>
            </a:r>
            <a:r>
              <a:rPr lang="en-GB" b="1" dirty="0" smtClean="0"/>
              <a:t> = 42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5964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Training Process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 smtClean="0"/>
              <a:t>Train-test </a:t>
            </a:r>
            <a:r>
              <a:rPr lang="en-GB" dirty="0"/>
              <a:t>split adjustable via </a:t>
            </a:r>
            <a:r>
              <a:rPr lang="en-GB" dirty="0" err="1"/>
              <a:t>Streamlit</a:t>
            </a:r>
            <a:r>
              <a:rPr lang="en-GB" dirty="0"/>
              <a:t> slider (default: 80%-20</a:t>
            </a:r>
            <a:r>
              <a:rPr lang="en-GB" dirty="0" smtClean="0"/>
              <a:t>%)</a:t>
            </a:r>
            <a:endParaRPr lang="en-GB" sz="2400" dirty="0"/>
          </a:p>
          <a:p>
            <a:pPr lvl="0"/>
            <a:r>
              <a:rPr lang="en-GB" dirty="0"/>
              <a:t>Model trained on the training set and evaluated on the test set </a:t>
            </a:r>
            <a:r>
              <a:rPr lang="en-GB" dirty="0" smtClean="0"/>
              <a:t>using</a:t>
            </a:r>
            <a:endParaRPr lang="en-GB" sz="2400" dirty="0" smtClean="0"/>
          </a:p>
          <a:p>
            <a:pPr lvl="0"/>
            <a:r>
              <a:rPr lang="en-GB" dirty="0" smtClean="0">
                <a:solidFill>
                  <a:srgbClr val="FF0000"/>
                </a:solidFill>
              </a:rPr>
              <a:t>Accuracy</a:t>
            </a:r>
            <a:endParaRPr lang="en-GB" sz="1800" dirty="0" smtClean="0">
              <a:solidFill>
                <a:srgbClr val="FF0000"/>
              </a:solidFill>
            </a:endParaRPr>
          </a:p>
          <a:p>
            <a:pPr lvl="0"/>
            <a:r>
              <a:rPr lang="en-GB" dirty="0" smtClean="0">
                <a:solidFill>
                  <a:srgbClr val="FF0000"/>
                </a:solidFill>
              </a:rPr>
              <a:t>Matrix</a:t>
            </a:r>
            <a:endParaRPr lang="en-GB" sz="1800" dirty="0" smtClean="0">
              <a:solidFill>
                <a:srgbClr val="FF0000"/>
              </a:solidFill>
            </a:endParaRPr>
          </a:p>
          <a:p>
            <a:pPr lvl="0"/>
            <a:r>
              <a:rPr lang="en-GB" dirty="0" smtClean="0">
                <a:solidFill>
                  <a:srgbClr val="FF0000"/>
                </a:solidFill>
              </a:rPr>
              <a:t>Confusion </a:t>
            </a:r>
            <a:r>
              <a:rPr lang="en-GB" dirty="0">
                <a:solidFill>
                  <a:srgbClr val="FF0000"/>
                </a:solidFill>
              </a:rPr>
              <a:t>Classification Report</a:t>
            </a:r>
            <a:endParaRPr lang="en-GB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496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Deployment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 smtClean="0"/>
              <a:t>Interface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Streamlit</a:t>
            </a:r>
            <a:r>
              <a:rPr lang="en-GB" dirty="0"/>
              <a:t> web app for interactive input of features.</a:t>
            </a:r>
          </a:p>
          <a:p>
            <a:pPr lvl="0"/>
            <a:r>
              <a:rPr lang="en-GB" b="1" dirty="0"/>
              <a:t>Prediction Mapping:</a:t>
            </a:r>
            <a:endParaRPr lang="en-GB" dirty="0"/>
          </a:p>
          <a:p>
            <a:pPr marL="0" indent="0">
              <a:buNone/>
            </a:pPr>
            <a:r>
              <a:rPr lang="en-GB" b="1" dirty="0" smtClean="0"/>
              <a:t>    1</a:t>
            </a:r>
            <a:r>
              <a:rPr lang="en-GB" b="1" dirty="0"/>
              <a:t>= “Has heart attack or stroke”</a:t>
            </a:r>
            <a:endParaRPr lang="en-GB" dirty="0"/>
          </a:p>
          <a:p>
            <a:pPr marL="0" indent="0">
              <a:buNone/>
            </a:pPr>
            <a:r>
              <a:rPr lang="en-GB" b="1" dirty="0" smtClean="0"/>
              <a:t>     0 </a:t>
            </a:r>
            <a:r>
              <a:rPr lang="en-GB" b="1" dirty="0"/>
              <a:t>= “No heart attack or stroke</a:t>
            </a:r>
            <a:r>
              <a:rPr lang="en-GB" dirty="0"/>
              <a:t>”</a:t>
            </a:r>
          </a:p>
          <a:p>
            <a:pPr lvl="0"/>
            <a:r>
              <a:rPr lang="en-GB" b="1" dirty="0"/>
              <a:t>Visualizations:</a:t>
            </a:r>
            <a:r>
              <a:rPr lang="en-GB" dirty="0"/>
              <a:t> Scatter plots using Altair to interpret feature-target relationships.</a:t>
            </a:r>
          </a:p>
          <a:p>
            <a:pPr lvl="0"/>
            <a:r>
              <a:rPr lang="en-GB" b="1" dirty="0"/>
              <a:t>Session Handling:</a:t>
            </a:r>
            <a:r>
              <a:rPr lang="en-GB" dirty="0"/>
              <a:t> Trained model stored in </a:t>
            </a:r>
            <a:r>
              <a:rPr lang="en-GB" dirty="0" err="1"/>
              <a:t>Streamlit</a:t>
            </a:r>
            <a:r>
              <a:rPr lang="en-GB" dirty="0"/>
              <a:t> session state to allow repeated predictions without retraining.</a:t>
            </a:r>
          </a:p>
        </p:txBody>
      </p:sp>
    </p:spTree>
    <p:extLst>
      <p:ext uri="{BB962C8B-B14F-4D97-AF65-F5344CB8AC3E}">
        <p14:creationId xmlns:p14="http://schemas.microsoft.com/office/powerpoint/2010/main" val="849551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GB" altLang="en-US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  <a:endParaRPr kumimoji="0" lang="en-GB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3883027"/>
              </p:ext>
            </p:extLst>
          </p:nvPr>
        </p:nvGraphicFramePr>
        <p:xfrm>
          <a:off x="1359876" y="1690689"/>
          <a:ext cx="8311661" cy="45108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72826">
                  <a:extLst>
                    <a:ext uri="{9D8B030D-6E8A-4147-A177-3AD203B41FA5}">
                      <a16:colId xmlns:a16="http://schemas.microsoft.com/office/drawing/2014/main" val="2503947663"/>
                    </a:ext>
                  </a:extLst>
                </a:gridCol>
                <a:gridCol w="5238835">
                  <a:extLst>
                    <a:ext uri="{9D8B030D-6E8A-4147-A177-3AD203B41FA5}">
                      <a16:colId xmlns:a16="http://schemas.microsoft.com/office/drawing/2014/main" val="4067725080"/>
                    </a:ext>
                  </a:extLst>
                </a:gridCol>
              </a:tblGrid>
              <a:tr h="75180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Component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Tool / Framework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52768476"/>
                  </a:ext>
                </a:extLst>
              </a:tr>
              <a:tr h="7518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Data Handling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Python, Pandas, NumPy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21691776"/>
                  </a:ext>
                </a:extLst>
              </a:tr>
              <a:tr h="7518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Machine Learning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 err="1">
                          <a:effectLst/>
                        </a:rPr>
                        <a:t>Scikit</a:t>
                      </a:r>
                      <a:r>
                        <a:rPr lang="en-GB" sz="2400" dirty="0">
                          <a:effectLst/>
                        </a:rPr>
                        <a:t>-learn (Gradient Boosting)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73815849"/>
                  </a:ext>
                </a:extLst>
              </a:tr>
              <a:tr h="7518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Visualization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Altair, </a:t>
                      </a:r>
                      <a:r>
                        <a:rPr lang="en-GB" sz="2400" dirty="0" err="1">
                          <a:effectLst/>
                        </a:rPr>
                        <a:t>Streamlit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18619802"/>
                  </a:ext>
                </a:extLst>
              </a:tr>
              <a:tr h="7518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Deployment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 err="1">
                          <a:effectLst/>
                        </a:rPr>
                        <a:t>Streamlit</a:t>
                      </a:r>
                      <a:r>
                        <a:rPr lang="en-GB" sz="2400" dirty="0">
                          <a:effectLst/>
                        </a:rPr>
                        <a:t> Web App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95887850"/>
                  </a:ext>
                </a:extLst>
              </a:tr>
              <a:tr h="7518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Version Control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Git + GitHub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19359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2617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GB" altLang="en-US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Experiments and Results</a:t>
            </a:r>
            <a:r>
              <a:rPr kumimoji="0" lang="en-GB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GB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GB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Model Training</a:t>
            </a:r>
            <a:endParaRPr lang="en-GB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5605753"/>
              </p:ext>
            </p:extLst>
          </p:nvPr>
        </p:nvGraphicFramePr>
        <p:xfrm>
          <a:off x="838200" y="1875690"/>
          <a:ext cx="10515600" cy="40913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01540059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62588700"/>
                    </a:ext>
                  </a:extLst>
                </a:gridCol>
              </a:tblGrid>
              <a:tr h="8182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Metric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Result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92229161"/>
                  </a:ext>
                </a:extLst>
              </a:tr>
              <a:tr h="8182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Accuracy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99%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82806705"/>
                  </a:ext>
                </a:extLst>
              </a:tr>
              <a:tr h="8182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Precision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97%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8469983"/>
                  </a:ext>
                </a:extLst>
              </a:tr>
              <a:tr h="8182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Recall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effectLst/>
                        </a:rPr>
                        <a:t>95%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44031740"/>
                  </a:ext>
                </a:extLst>
              </a:tr>
              <a:tr h="8182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F1-Score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effectLst/>
                        </a:rPr>
                        <a:t>96%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67782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121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GB" altLang="en-US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  <a:endParaRPr kumimoji="0" lang="en-GB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2954089"/>
              </p:ext>
            </p:extLst>
          </p:nvPr>
        </p:nvGraphicFramePr>
        <p:xfrm>
          <a:off x="838200" y="2180491"/>
          <a:ext cx="10515600" cy="32824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6545350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6231512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74403410"/>
                    </a:ext>
                  </a:extLst>
                </a:gridCol>
              </a:tblGrid>
              <a:tr h="10941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24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Predicted No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Predicted Yes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73648433"/>
                  </a:ext>
                </a:extLst>
              </a:tr>
              <a:tr h="10941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Actual No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18574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75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6530734"/>
                  </a:ext>
                </a:extLst>
              </a:tr>
              <a:tr h="10941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Actual Yes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130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1221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208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688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GB" altLang="en-US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Classification Report</a:t>
            </a:r>
            <a:endParaRPr kumimoji="0" lang="en-GB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6449086"/>
              </p:ext>
            </p:extLst>
          </p:nvPr>
        </p:nvGraphicFramePr>
        <p:xfrm>
          <a:off x="838200" y="1690688"/>
          <a:ext cx="10515600" cy="41708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6033865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986526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2783823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2508966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10547438"/>
                    </a:ext>
                  </a:extLst>
                </a:gridCol>
              </a:tblGrid>
              <a:tr h="10427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Class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Precision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Recall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F1-Score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Support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70185110"/>
                  </a:ext>
                </a:extLst>
              </a:tr>
              <a:tr h="10427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0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1.00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18,649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41705100"/>
                  </a:ext>
                </a:extLst>
              </a:tr>
              <a:tr h="10427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1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0.94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0.90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0.92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1,351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27611780"/>
                  </a:ext>
                </a:extLst>
              </a:tr>
              <a:tr h="10427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Avg/Total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0.97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0.95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0.96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20,000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210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7737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34" y="3176954"/>
            <a:ext cx="10058400" cy="3200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Feature Visualization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7913"/>
          </a:xfrm>
        </p:spPr>
        <p:txBody>
          <a:bodyPr/>
          <a:lstStyle/>
          <a:p>
            <a:pPr lvl="0"/>
            <a:r>
              <a:rPr lang="en-GB" b="1" dirty="0" smtClean="0"/>
              <a:t>Scatter </a:t>
            </a:r>
            <a:r>
              <a:rPr lang="en-GB" b="1" dirty="0"/>
              <a:t>Plots:</a:t>
            </a:r>
            <a:r>
              <a:rPr lang="en-GB" dirty="0"/>
              <a:t> Show relationships between two selected features and the target.</a:t>
            </a:r>
          </a:p>
          <a:p>
            <a:pPr lvl="0"/>
            <a:r>
              <a:rPr lang="en-GB" b="1" dirty="0"/>
              <a:t>Interpretation:</a:t>
            </a:r>
            <a:r>
              <a:rPr lang="en-GB" dirty="0"/>
              <a:t> Highlight trends that indicate higher risk</a:t>
            </a:r>
            <a:r>
              <a:rPr lang="en-GB" dirty="0" smtClean="0"/>
              <a:t>.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5503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8251087"/>
              </p:ext>
            </p:extLst>
          </p:nvPr>
        </p:nvGraphicFramePr>
        <p:xfrm>
          <a:off x="838200" y="2028093"/>
          <a:ext cx="10515600" cy="30245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941177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77334401"/>
                    </a:ext>
                  </a:extLst>
                </a:gridCol>
              </a:tblGrid>
              <a:tr h="10081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Feature Inputs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Prediction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49925174"/>
                  </a:ext>
                </a:extLst>
              </a:tr>
              <a:tr h="10081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[Input 1]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Has heart attack or stroke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85245763"/>
                  </a:ext>
                </a:extLst>
              </a:tr>
              <a:tr h="10081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[Input 2]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No heart attack or stroke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966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5399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Discussion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 smtClean="0"/>
              <a:t>The </a:t>
            </a:r>
            <a:r>
              <a:rPr lang="en-GB" dirty="0"/>
              <a:t>Gradient Boosting model shows </a:t>
            </a:r>
            <a:r>
              <a:rPr lang="en-GB" b="1" dirty="0"/>
              <a:t>good predictive performance</a:t>
            </a:r>
            <a:r>
              <a:rPr lang="en-GB" dirty="0"/>
              <a:t> on the synthetic dataset.</a:t>
            </a:r>
          </a:p>
          <a:p>
            <a:pPr lvl="0"/>
            <a:r>
              <a:rPr lang="en-GB" b="1" dirty="0"/>
              <a:t>Interpretability:</a:t>
            </a:r>
            <a:r>
              <a:rPr lang="en-GB" dirty="0"/>
              <a:t> Mapping predictions to human-readable labels enhances accessibility</a:t>
            </a:r>
            <a:r>
              <a:rPr lang="en-GB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41889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 dirty="0" smtClean="0"/>
              <a:t>Limitations</a:t>
            </a:r>
            <a:endParaRPr lang="en-GB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 smtClean="0"/>
              <a:t>Synthetic dataset may not perfectly reflect real-world patient data.</a:t>
            </a:r>
          </a:p>
          <a:p>
            <a:r>
              <a:rPr lang="en-GB" dirty="0" smtClean="0"/>
              <a:t>Model performance may vary with unseen clinical populations.</a:t>
            </a:r>
          </a:p>
          <a:p>
            <a:r>
              <a:rPr lang="en-GB" dirty="0" smtClean="0"/>
              <a:t>No feature importance analysis was included (optional improvement).</a:t>
            </a:r>
          </a:p>
        </p:txBody>
      </p:sp>
    </p:spTree>
    <p:extLst>
      <p:ext uri="{BB962C8B-B14F-4D97-AF65-F5344CB8AC3E}">
        <p14:creationId xmlns:p14="http://schemas.microsoft.com/office/powerpoint/2010/main" val="33769322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 dirty="0" smtClean="0"/>
              <a:t>Future Work</a:t>
            </a:r>
            <a:endParaRPr lang="en-GB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 smtClean="0"/>
              <a:t>Integrate SHAP or LIME for explainable AI.</a:t>
            </a:r>
          </a:p>
          <a:p>
            <a:r>
              <a:rPr lang="en-GB" dirty="0" smtClean="0"/>
              <a:t>Expand dataset with real patient data.</a:t>
            </a:r>
          </a:p>
          <a:p>
            <a:r>
              <a:rPr lang="en-GB" dirty="0" smtClean="0"/>
              <a:t>Add user authentication and secure deployment for clinical use.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12165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Conclusion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This </a:t>
            </a:r>
            <a:r>
              <a:rPr lang="en-GB" dirty="0"/>
              <a:t>project successfully builds an </a:t>
            </a:r>
            <a:r>
              <a:rPr lang="en-GB" b="1" dirty="0"/>
              <a:t>end-to-end AI application</a:t>
            </a:r>
            <a:r>
              <a:rPr lang="en-GB" dirty="0"/>
              <a:t> for predicting cardiovascular risk. </a:t>
            </a:r>
            <a:endParaRPr lang="en-GB" dirty="0" smtClean="0"/>
          </a:p>
          <a:p>
            <a:r>
              <a:rPr lang="en-GB" dirty="0" smtClean="0"/>
              <a:t>The </a:t>
            </a:r>
            <a:r>
              <a:rPr lang="en-GB" b="1" dirty="0"/>
              <a:t>Gradient Boosting model</a:t>
            </a:r>
            <a:r>
              <a:rPr lang="en-GB" dirty="0"/>
              <a:t> demonstrates strong predictive capability, and the </a:t>
            </a:r>
            <a:r>
              <a:rPr lang="en-GB" b="1" dirty="0" err="1"/>
              <a:t>Streamlit</a:t>
            </a:r>
            <a:r>
              <a:rPr lang="en-GB" b="1" dirty="0"/>
              <a:t> interface</a:t>
            </a:r>
            <a:r>
              <a:rPr lang="en-GB" dirty="0"/>
              <a:t> provides a user-friendly, interactive platform. </a:t>
            </a:r>
            <a:endParaRPr lang="en-GB" dirty="0" smtClean="0"/>
          </a:p>
          <a:p>
            <a:r>
              <a:rPr lang="en-GB" dirty="0" smtClean="0"/>
              <a:t>The </a:t>
            </a:r>
            <a:r>
              <a:rPr lang="en-GB" dirty="0"/>
              <a:t>prototype can be further improved and deployed in clinical settings to support preventive healthcare initiatives.</a:t>
            </a:r>
          </a:p>
        </p:txBody>
      </p:sp>
    </p:spTree>
    <p:extLst>
      <p:ext uri="{BB962C8B-B14F-4D97-AF65-F5344CB8AC3E}">
        <p14:creationId xmlns:p14="http://schemas.microsoft.com/office/powerpoint/2010/main" val="30613500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References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en-GB" dirty="0" smtClean="0"/>
              <a:t>NIHR </a:t>
            </a:r>
            <a:r>
              <a:rPr lang="en-GB" dirty="0"/>
              <a:t>ARC Wessex Synthetic Cardiovascular Dataset (v0.2)</a:t>
            </a:r>
          </a:p>
          <a:p>
            <a:pPr lvl="0"/>
            <a:r>
              <a:rPr lang="en-GB" dirty="0" err="1"/>
              <a:t>Scikit</a:t>
            </a:r>
            <a:r>
              <a:rPr lang="en-GB" dirty="0"/>
              <a:t>-learn: </a:t>
            </a:r>
            <a:r>
              <a:rPr lang="en-GB" dirty="0" err="1"/>
              <a:t>Pedregosa</a:t>
            </a:r>
            <a:r>
              <a:rPr lang="en-GB" dirty="0"/>
              <a:t> et al., </a:t>
            </a:r>
            <a:r>
              <a:rPr lang="en-GB" i="1" dirty="0"/>
              <a:t>Journal of Machine Learning Research</a:t>
            </a:r>
            <a:r>
              <a:rPr lang="en-GB" dirty="0"/>
              <a:t>, 2011</a:t>
            </a:r>
          </a:p>
          <a:p>
            <a:pPr lvl="0"/>
            <a:r>
              <a:rPr lang="en-GB" dirty="0" err="1"/>
              <a:t>Streamlit</a:t>
            </a:r>
            <a:r>
              <a:rPr lang="en-GB" dirty="0"/>
              <a:t> Documentation: </a:t>
            </a:r>
            <a:r>
              <a:rPr lang="en-GB" u="sng" dirty="0">
                <a:hlinkClick r:id="rId2"/>
              </a:rPr>
              <a:t>https://docs.streamlit.io</a:t>
            </a:r>
            <a:endParaRPr lang="en-GB" dirty="0"/>
          </a:p>
          <a:p>
            <a:pPr lvl="0"/>
            <a:r>
              <a:rPr lang="en-GB" dirty="0"/>
              <a:t>Framingham Risk Score: </a:t>
            </a:r>
            <a:r>
              <a:rPr lang="en-GB" dirty="0" err="1"/>
              <a:t>D’Agostino</a:t>
            </a:r>
            <a:r>
              <a:rPr lang="en-GB" dirty="0"/>
              <a:t> et al., </a:t>
            </a:r>
            <a:r>
              <a:rPr lang="en-GB" i="1" dirty="0"/>
              <a:t>Circulation</a:t>
            </a:r>
            <a:r>
              <a:rPr lang="en-GB" dirty="0"/>
              <a:t>, 2008</a:t>
            </a:r>
          </a:p>
          <a:p>
            <a:r>
              <a:rPr lang="en-GB" dirty="0"/>
              <a:t>QRISK: </a:t>
            </a:r>
            <a:r>
              <a:rPr lang="en-GB" dirty="0" err="1"/>
              <a:t>Hippisley</a:t>
            </a:r>
            <a:r>
              <a:rPr lang="en-GB" dirty="0"/>
              <a:t>-Cox et al., </a:t>
            </a:r>
            <a:r>
              <a:rPr lang="en-GB" i="1" dirty="0"/>
              <a:t>BMJ</a:t>
            </a:r>
            <a:r>
              <a:rPr lang="en-GB" dirty="0"/>
              <a:t>, </a:t>
            </a:r>
            <a:r>
              <a:rPr lang="en-GB" dirty="0" smtClean="0"/>
              <a:t>2007</a:t>
            </a:r>
          </a:p>
          <a:p>
            <a:r>
              <a:rPr lang="en-GB" dirty="0" smtClean="0"/>
              <a:t>V. Michel, A. </a:t>
            </a:r>
            <a:r>
              <a:rPr lang="en-GB" dirty="0" err="1" smtClean="0"/>
              <a:t>Gramfort</a:t>
            </a:r>
            <a:r>
              <a:rPr lang="en-GB" dirty="0" smtClean="0"/>
              <a:t>, G. </a:t>
            </a:r>
            <a:r>
              <a:rPr lang="en-GB" dirty="0" err="1" smtClean="0"/>
              <a:t>Varoquaux</a:t>
            </a:r>
            <a:r>
              <a:rPr lang="en-GB" dirty="0" smtClean="0"/>
              <a:t>, E. Eger, C. </a:t>
            </a:r>
            <a:r>
              <a:rPr lang="en-GB" dirty="0" err="1" smtClean="0"/>
              <a:t>Keribin</a:t>
            </a:r>
            <a:r>
              <a:rPr lang="en-GB" dirty="0" smtClean="0"/>
              <a:t>, and B. </a:t>
            </a:r>
            <a:r>
              <a:rPr lang="en-GB" dirty="0" err="1" smtClean="0"/>
              <a:t>Thirion</a:t>
            </a:r>
            <a:r>
              <a:rPr lang="en-GB" dirty="0" smtClean="0"/>
              <a:t>. A supervised clustering</a:t>
            </a:r>
          </a:p>
          <a:p>
            <a:r>
              <a:rPr lang="en-GB" dirty="0" smtClean="0"/>
              <a:t>approach for fMRI-based inference of brain states. </a:t>
            </a:r>
            <a:r>
              <a:rPr lang="en-GB" dirty="0" err="1" smtClean="0"/>
              <a:t>Patt</a:t>
            </a:r>
            <a:r>
              <a:rPr lang="en-GB" dirty="0" smtClean="0"/>
              <a:t> Rec, page </a:t>
            </a:r>
            <a:r>
              <a:rPr lang="en-GB" dirty="0" err="1" smtClean="0"/>
              <a:t>epub</a:t>
            </a:r>
            <a:r>
              <a:rPr lang="en-GB" dirty="0" smtClean="0"/>
              <a:t> ahead of print, April</a:t>
            </a:r>
          </a:p>
          <a:p>
            <a:r>
              <a:rPr lang="en-GB" dirty="0" smtClean="0"/>
              <a:t>2011. </a:t>
            </a:r>
            <a:r>
              <a:rPr lang="en-GB" dirty="0" err="1" smtClean="0"/>
              <a:t>doi</a:t>
            </a:r>
            <a:r>
              <a:rPr lang="en-GB" dirty="0" smtClean="0"/>
              <a:t>: 10.1016/j.patcog.2011.04.006.</a:t>
            </a:r>
          </a:p>
          <a:p>
            <a:r>
              <a:rPr lang="en-GB" dirty="0" smtClean="0"/>
              <a:t>K.J. </a:t>
            </a:r>
            <a:r>
              <a:rPr lang="en-GB" dirty="0" err="1" smtClean="0"/>
              <a:t>Milmann</a:t>
            </a:r>
            <a:r>
              <a:rPr lang="en-GB" dirty="0" smtClean="0"/>
              <a:t> and M. </a:t>
            </a:r>
            <a:r>
              <a:rPr lang="en-GB" dirty="0" err="1" smtClean="0"/>
              <a:t>Avaizis</a:t>
            </a:r>
            <a:r>
              <a:rPr lang="en-GB" dirty="0" smtClean="0"/>
              <a:t>, editors. Scientific Python, volume 11 of Computing in Science &amp;</a:t>
            </a:r>
          </a:p>
          <a:p>
            <a:r>
              <a:rPr lang="en-GB" dirty="0" smtClean="0"/>
              <a:t>Engineering. IEEE/AIP, March 2011.</a:t>
            </a:r>
          </a:p>
          <a:p>
            <a:r>
              <a:rPr lang="en-GB" dirty="0" smtClean="0"/>
              <a:t>S.M. </a:t>
            </a:r>
            <a:r>
              <a:rPr lang="en-GB" dirty="0" err="1" smtClean="0"/>
              <a:t>Omohundro</a:t>
            </a:r>
            <a:r>
              <a:rPr lang="en-GB" dirty="0" smtClean="0"/>
              <a:t>. Five </a:t>
            </a:r>
            <a:r>
              <a:rPr lang="en-GB" dirty="0" err="1" smtClean="0"/>
              <a:t>balltree</a:t>
            </a:r>
            <a:r>
              <a:rPr lang="en-GB" dirty="0" smtClean="0"/>
              <a:t> construction algorithms. ICSI Technical Report TR-89-063, 1989.</a:t>
            </a:r>
          </a:p>
          <a:p>
            <a:r>
              <a:rPr lang="en-GB" dirty="0" smtClean="0"/>
              <a:t>V. </a:t>
            </a:r>
            <a:r>
              <a:rPr lang="en-GB" dirty="0" err="1" smtClean="0"/>
              <a:t>Rokhlin</a:t>
            </a:r>
            <a:r>
              <a:rPr lang="en-GB" dirty="0" smtClean="0"/>
              <a:t>, A. </a:t>
            </a:r>
            <a:r>
              <a:rPr lang="en-GB" dirty="0" err="1" smtClean="0"/>
              <a:t>Szlam</a:t>
            </a:r>
            <a:r>
              <a:rPr lang="en-GB" dirty="0" smtClean="0"/>
              <a:t>, and M. </a:t>
            </a:r>
            <a:r>
              <a:rPr lang="en-GB" dirty="0" err="1" smtClean="0"/>
              <a:t>Tygert</a:t>
            </a:r>
            <a:r>
              <a:rPr lang="en-GB" dirty="0" smtClean="0"/>
              <a:t>. A randomized algorithm for principal component analysis.</a:t>
            </a:r>
          </a:p>
          <a:p>
            <a:r>
              <a:rPr lang="en-GB" dirty="0" smtClean="0"/>
              <a:t>SIAM Journal on Matrix Analysis and Applications, 31(3):1100–1124, 2009.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3514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1004</Words>
  <Application>Microsoft Office PowerPoint</Application>
  <PresentationFormat>Widescreen</PresentationFormat>
  <Paragraphs>157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Abstract</vt:lpstr>
      <vt:lpstr>Abstract Cont’</vt:lpstr>
      <vt:lpstr>Introduction</vt:lpstr>
      <vt:lpstr>Objectives</vt:lpstr>
      <vt:lpstr>Related Work / Literature Review</vt:lpstr>
      <vt:lpstr>Gap</vt:lpstr>
      <vt:lpstr>Methodology  Dataset</vt:lpstr>
      <vt:lpstr>Data Preprocessing</vt:lpstr>
      <vt:lpstr>Model Development</vt:lpstr>
      <vt:lpstr>Model Development cont’</vt:lpstr>
      <vt:lpstr>Hyperparameters</vt:lpstr>
      <vt:lpstr>Training Process</vt:lpstr>
      <vt:lpstr>Deployment</vt:lpstr>
      <vt:lpstr>Tools &amp; Technologies</vt:lpstr>
      <vt:lpstr>Experiments and Results  Model Training</vt:lpstr>
      <vt:lpstr>Confusion Matrix</vt:lpstr>
      <vt:lpstr>Classification Report</vt:lpstr>
      <vt:lpstr>Feature Visualization</vt:lpstr>
      <vt:lpstr>PowerPoint Presentation</vt:lpstr>
      <vt:lpstr>Discussion</vt:lpstr>
      <vt:lpstr>Limitations</vt:lpstr>
      <vt:lpstr>Future Work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5</cp:revision>
  <dcterms:created xsi:type="dcterms:W3CDTF">2026-01-18T22:44:00Z</dcterms:created>
  <dcterms:modified xsi:type="dcterms:W3CDTF">2026-01-19T00:30:25Z</dcterms:modified>
</cp:coreProperties>
</file>